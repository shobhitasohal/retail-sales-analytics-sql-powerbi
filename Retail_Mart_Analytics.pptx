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Mart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Power BI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4-phase SQL analytics pipeline across 17,975 customers,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products &amp; $29.3M in revenue — powered by Power BI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920240" cy="246888"/>
          </a:xfrm>
          <a:prstGeom prst="roundRect">
            <a:avLst>
              <a:gd name="adj" fmla="val 18519"/>
            </a:avLst>
          </a:prstGeom>
          <a:solidFill>
            <a:srgbClr val="2E86DE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60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EDA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4160520"/>
            <a:ext cx="1920240" cy="246888"/>
          </a:xfrm>
          <a:prstGeom prst="roundRect">
            <a:avLst>
              <a:gd name="adj" fmla="val 18519"/>
            </a:avLst>
          </a:prstGeom>
          <a:solidFill>
            <a:srgbClr val="2E86DE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4160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KPIs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4160520"/>
            <a:ext cx="1920240" cy="246888"/>
          </a:xfrm>
          <a:prstGeom prst="roundRect">
            <a:avLst>
              <a:gd name="adj" fmla="val 18519"/>
            </a:avLst>
          </a:prstGeom>
          <a:solidFill>
            <a:srgbClr val="2E86DE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16052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Analytics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4160520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2E86DE">
              <a:alpha val="3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41605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Views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 Sohal  |  Data &amp; BI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 ·  Objective  ·  Approach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16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481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business with 3 years of sales data (2011–2013) had no structured analytics to monitor revenue trends, understand customer behaviour, or evaluate product performance across 3 categories — Bikes, Accessories, and Clothing.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359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624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4-phase SQL analytics pipeline and a 3-page Power BI dashboard to answer: Who are our customers? What products drive revenue? Is the business growing?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07592" y="3310128"/>
            <a:ext cx="438912" cy="43891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1307592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005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quality, check nulls, confirm date range &amp; orphan 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97480" y="32004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56432" y="3310128"/>
            <a:ext cx="438912" cy="43891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794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88920" y="4005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YoY growth, moving average &amp; category share calculations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05272" y="3310128"/>
            <a:ext cx="438912" cy="43891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4" name="Text 22"/>
          <p:cNvSpPr/>
          <p:nvPr/>
        </p:nvSpPr>
        <p:spPr>
          <a:xfrm>
            <a:off x="5605272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94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4005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vs. average, customer segmentation &amp; cost tiers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95160" y="32004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54112" y="3310128"/>
            <a:ext cx="438912" cy="43891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0" name="Text 28"/>
          <p:cNvSpPr/>
          <p:nvPr/>
        </p:nvSpPr>
        <p:spPr>
          <a:xfrm>
            <a:off x="7754112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3794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4005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optimized views as single source of truth for Power BI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shape, quality, date ranges, and referential integrity across all 3 tables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Shape &amp; Quality Checks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87552"/>
            <a:ext cx="4937760" cy="3858768"/>
          </a:xfrm>
          <a:prstGeom prst="roundRect">
            <a:avLst>
              <a:gd name="adj" fmla="val 237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Phase_1_-_EDA.sql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4663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Phase 1: EDA — Understand shape, quality &amp; range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sales_rows   FROM [gold].[fact_sales];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customer_rows FROM [gold].[dim_customers];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product_rows  FROM [gold].[dim_products];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Date range &amp; active trading days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MIN(order_date) AS earliest,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MAX(order_date) AS latest,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COUNT(DISTINCT order_date) AS active_days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[gold].[fact_sales];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Data quality check (nulls &amp; orphans)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sales_amount IS NULL THEN 1 ELSE 0 END) AS null_sales,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c.customer_key IS NULL THEN 1 ELSE 0 END) AS orphan_cust,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p.product_key  IS NULL THEN 1 ELSE 0 END) AS orphan_prod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[gold].[fact_sales] 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[gold].[dim_customers] c ON s.customer_key = c.customer_key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[gold].[dim_products]  p ON s.product_key  = p.product_key;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23560" y="987552"/>
            <a:ext cx="2971800" cy="385876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472184"/>
            <a:ext cx="201168" cy="20116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6053328" y="14173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53328" y="16550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60K+ sales rows, 18K customers, 293 products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2130552"/>
            <a:ext cx="201168" cy="20116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605332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2011–2013 as analysis window; excluded incomplete 2010 &amp; 2014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788920"/>
            <a:ext cx="201168" cy="20116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2734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missing DOB records in customer table — flagged for downstream handling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447288"/>
            <a:ext cx="201168" cy="20116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33924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3630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verified all sales rows join cleanly to customers &amp; products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4105656"/>
            <a:ext cx="201168" cy="20116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4050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53328" y="42885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copy created to protect source data from transformation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YoY growth, 3-month moving average &amp; category revenue share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KPI Calculations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Revenue, Growth &amp; Moving Average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87552"/>
            <a:ext cx="4937760" cy="3858768"/>
          </a:xfrm>
          <a:prstGeom prst="roundRect">
            <a:avLst>
              <a:gd name="adj" fmla="val 237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Phase_2_-_KPIs_Calculations.sql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4663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Phase 2: KPIs — Revenue, YoY Growth &amp; Moving Average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Annual KPIs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YEAR(order_date) AS yr,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order_number) AS total_orders,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SUM(sales_amount)            AS total_revenue,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AVG(sales_amount)            AS avg_order_value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gold.fact_sales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YEAR(order_date);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YoY Revenue Growth using LAG()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yearly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YEAR(order_date) AS yr,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SUM(sales_amount) AS revenue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gold.fact_sales GROUP BY YEAR(order_date)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yr, revenue,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LAG(revenue) OVER (ORDER BY yr) AS prev_yr_rev,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ROUND((revenue - LAG(revenue) OVER (ORDER BY yr))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 100.0 / NULLIF(LAG(revenue) OVER (ORDER BY yr),0),2)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yoy_growth_pct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yearly WHERE yr BETWEEN 2011 AND 2013;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23560" y="987552"/>
            <a:ext cx="2971800" cy="385876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472184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6053328" y="14173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KPIs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53328" y="16550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orders, units sold, avg order value &amp; revenue per customer by year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2130552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05332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window function computes prior year revenue for % change calculation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788920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2734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average using ROWS BETWEEN 2 PRECEDING AND CURRENT ROW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447288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33924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Share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3630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OVER (PARTITION BY yr) calculates each category's % of annual total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4105656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4050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53328" y="42885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179.5% from 2012 → 2013 ($5.8M → $16.3M)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benchmarking, customer segmentation &amp; cost tier classification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Advanced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&amp; Customer Segmentation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87552"/>
            <a:ext cx="4937760" cy="3858768"/>
          </a:xfrm>
          <a:prstGeom prst="roundRect">
            <a:avLst>
              <a:gd name="adj" fmla="val 237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Phase_3_-_Advanced_Analytics.sql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4663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Phase 3: Advanced Analytics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Product Performance vs Category Average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product_sales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YEAR(f.order_date) AS yr, p.category,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p.product_name, p.cost,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SUM(f.sales_amount)  AS total_revenue,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 f.order_number) AS total_orders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[gold].[fact_sales] 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[gold].[dim_products] p ON f.product_key = p.product_key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YEAR(f.order_date), p.product_name, p.category, p.cost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AVG(total_revenue) OVER (PARTITION BY yr, category)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category_avg_revenue,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total_revenue &gt; AVG(total_revenue)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OVER (PARTITION BY yr, category) THEN 'Above Average'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total_revenue &lt; AVG(total_revenue)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OVER (PARTITION BY yr, category) THEN 'Below Average'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'Average'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performance_tag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product_sales;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23560" y="987552"/>
            <a:ext cx="2971800" cy="385876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47218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053328" y="14173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Avg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53328" y="16550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OVER(PARTITION BY yr, category) benchmarks each product against its category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213055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05332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labels each product: Above Average, Below Average, or Average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7889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2734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Segments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 groups 17,975 customers into Under 30, 30-44, 45-59, 60+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44728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33924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3630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statuses: Active, Churned, One-Time Buyer, Churned One-Time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410565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4050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53328" y="42885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classified into Low (&lt;$100), Mid, High, Premium (≥$1,500) segments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Views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Power BI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optimized views as a single source of truth — eliminating ad hoc CSV exports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SQL Views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Source of Truth for Power BI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87552"/>
            <a:ext cx="4937760" cy="3858768"/>
          </a:xfrm>
          <a:prstGeom prst="roundRect">
            <a:avLst>
              <a:gd name="adj" fmla="val 237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51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Phase_4_-_Views.sql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4663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Phase 4: SQL Views — Single Source of Truth for Power BI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Customer Segmentation 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ALTER VIEW customer_segmentation 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aggregated AS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customer_key,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SUM(sales_amount)          AS total_spend,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 order_number) AS total_orders,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MAX(order_date)            AS last_purchase_date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[gold].[fact_sales]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customer_key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c.first_name, c.last_name, c.gender,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DATEDIFF(year, c.birthdate, '2013-12-31') AS age,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DATEDIFF(year,c.birthdate,'2013-12-31') &lt; 30 THEN 'Under 30'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DATEDIFF(year,c.birthdate,'2013-12-31') &lt; 45 THEN '30-44'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DATEDIFF(year,c.birthdate,'2013-12-31') &lt; 60 THEN '45-59'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'60+'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age_group,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f.total_spend, f.total_orders,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f.total_orders =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DATEDIFF(month, f.last_purchase_date,'2013-12-31') &gt;= 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THEN 'Churned One-Time'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f.total_orders = 1 THEN 'One-Time Buyer'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DATEDIFF(month, f.last_purchase_date,'2013-12-31') &gt;= 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THEN 'Churned'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'Active'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customer_status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[gold].[dim_customers] 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aggregated f ON c.customer_key = f.customer_key;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23560" y="987552"/>
            <a:ext cx="2971800" cy="385876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472184"/>
            <a:ext cx="201168" cy="20116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0" name="Text 8"/>
          <p:cNvSpPr/>
          <p:nvPr/>
        </p:nvSpPr>
        <p:spPr>
          <a:xfrm>
            <a:off x="6053328" y="14173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53328" y="16550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 vs category avg with Above/Below Average tag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2130552"/>
            <a:ext cx="201168" cy="20116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05332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customer profile — age group, spend, orders, status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788920"/>
            <a:ext cx="201168" cy="20116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2734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revenue_monthly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with cumulative totals &amp; 3-month moving avg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447288"/>
            <a:ext cx="201168" cy="20116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33924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category_annual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328" y="3630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share %, YoY change &amp; growth % by year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4105656"/>
            <a:ext cx="201168" cy="20116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40507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product_cost_segment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53328" y="42885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portfolio growth by cost tier (Low → Premium)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3-Page Interactive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→ Power BI data model → Executive-ready visuals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Revenue, Customers &amp; Product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04164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404164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1460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404164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87552"/>
            <a:ext cx="55778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914400"/>
            <a:ext cx="2148840" cy="39319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65392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8988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839712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$29.3M Revenue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39712" y="1591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2011–2013 with 3-month moving average trend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65392" y="213969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839712" y="2103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58.4K Orders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39712" y="23408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processed across all customers and categories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565392" y="288950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39712" y="2852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Dominate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39712" y="30906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 of 2013 revenue — Road Bikes lead at $14.5M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65392" y="36393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6839712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179% Growth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39712" y="38404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$5.8M (2012) to $16.3M (2013)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65392" y="43891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839712" y="43525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by Category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39712" y="45902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&amp; Clothing emerged as new revenue streams in 2013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&amp; 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87552"/>
            <a:ext cx="55778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914400"/>
            <a:ext cx="2148840" cy="39319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65392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8988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839712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 One-Time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39712" y="1591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9,778 customers purchased only once — top retention opportunity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65392" y="213969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839712" y="2103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6,228 Active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39712" y="23408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driving consistent revenue — priority for loyalty programs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565392" y="288950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39712" y="2852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30–44 Leads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39712" y="30906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$15.7M combined spend — primary demographic for marketing investment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65392" y="36393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6839712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1,969 Churned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39712" y="38404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 candidates flagged with last purchase date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65392" y="43891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839712" y="43525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Frequency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39712" y="45902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maps lifetime spend against order count by status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&amp; Portfolio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87552"/>
            <a:ext cx="55778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914400"/>
            <a:ext cx="2148840" cy="39319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65392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8988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839712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Above Average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39712" y="1591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beating their category avg — shortlist for upsell focus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65392" y="213969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839712" y="2103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Below Average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39712" y="23408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for pricing review, bundling, or portfolio rationalization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565392" y="288950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39712" y="2852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Bikes #1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39712" y="30906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$14.5M sub-category revenue — clear market leader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65392" y="36393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6839712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Growing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39712" y="38404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grew from 13 to 63 premium products (2011–2013)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65392" y="43891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839712" y="43525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Tiers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39712" y="45902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tracked: Low, Mid, High, Premium (≥$1,500)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that drive decisions across Revenue, Customers &amp; Products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883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$29.3M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24942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tracked across 58,400 orders — grew 179.5% from 2012 to 2013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10712" y="1170432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7872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1883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224942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drove 93.9% of 2013 revenue ($15.4M); Road Bikes alone contributed $14.5M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72784" y="1170432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9944" y="1682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9944" y="1883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54.4%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82512" y="224942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9,778 customers (54.4%) are one-time buyers — biggest single retention opportunity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090672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8368" y="416966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30–44 generated $15.7M — primary target for loyalty and marketing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10712" y="3090672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10712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47872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47872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520440" y="416966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products tagged Above Average; Premium portfolio grew from 13 → 63 items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72784" y="3090672"/>
            <a:ext cx="26517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72784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9944" y="3602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9944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82512" y="4169664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optimized SQL views power all 3 Power BI dashboard pages — single source of truth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 Demonstrated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1A3A6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(4 Phases)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2893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 ·  Window Functions (LAG, RANK, AVG OVER)  ·  Self-JOIN  ·  CASE  ·  Date Functions  ·  SQL Views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1A3A6B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0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KPI Development  ·  YoY Analysis  ·  Customer Segmentation  ·  Product Benchmarking  ·  Cost Segmentation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1A3A6B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877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4378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 ·  DAX Measures  ·  3-Page Dashboard  ·  Interactive Slicers  ·  Executive Reporting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Shobhita Sohal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895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Business Intelligence Analyst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shobhita.sohal@gmail.com  |  linkedin.com/in/shobhitasohal  |  shobhitasohal.carrd.co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Mart Analytics</dc:title>
  <dc:subject>PptxGenJS Presentation</dc:subject>
  <dc:creator>Shobhita Sohal</dc:creator>
  <cp:lastModifiedBy>Shobhita Sohal</cp:lastModifiedBy>
  <cp:revision>1</cp:revision>
  <dcterms:created xsi:type="dcterms:W3CDTF">2026-07-05T19:19:01Z</dcterms:created>
  <dcterms:modified xsi:type="dcterms:W3CDTF">2026-07-05T19:19:01Z</dcterms:modified>
</cp:coreProperties>
</file>